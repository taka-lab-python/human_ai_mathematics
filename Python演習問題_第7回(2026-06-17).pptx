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6" r:id="rId6"/>
    <p:sldId id="278" r:id="rId7"/>
    <p:sldId id="268" r:id="rId8"/>
    <p:sldId id="274" r:id="rId9"/>
    <p:sldId id="277" r:id="rId10"/>
    <p:sldId id="258" r:id="rId11"/>
    <p:sldId id="275" r:id="rId12"/>
    <p:sldId id="273" r:id="rId13"/>
    <p:sldId id="272" r:id="rId14"/>
    <p:sldId id="279" r:id="rId15"/>
  </p:sldIdLst>
  <p:sldSz cx="12192000" cy="6858000"/>
  <p:notesSz cx="6858000" cy="9144000"/>
  <p:defaultTextStyle>
    <a:defPPr rtl="0">
      <a:defRPr lang="ja-jp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48" autoAdjust="0"/>
  </p:normalViewPr>
  <p:slideViewPr>
    <p:cSldViewPr snapToGrid="0">
      <p:cViewPr varScale="1">
        <p:scale>
          <a:sx n="45" d="100"/>
          <a:sy n="45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16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F087AC2-CC36-4B3E-B11B-21E0DB914F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2DC003-181F-4CD6-BE37-7A60AA76C1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2D953-0B32-4973-8376-B62845451436}" type="datetime5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2026/06/17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494C63-A99E-4FBB-906E-9D4B621B0D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697AFE-6062-4629-A308-265F8066A3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52014-BD28-44C0-B4D4-71534AC9B6F9}" type="slidenum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8351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 noProof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E25AF5E-5DB9-4FB2-ABA3-52230F77190E}" type="datetime5">
              <a:rPr kumimoji="1" lang="ja-JP" altLang="en-US" smtClean="0"/>
              <a:t>2026/06/17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noProof="0"/>
              <a:t>マスター テキストの書式設定</a:t>
            </a:r>
          </a:p>
          <a:p>
            <a:pPr lvl="1"/>
            <a:r>
              <a:rPr kumimoji="1" lang="ja-JP" altLang="en-US" noProof="0"/>
              <a:t>第 </a:t>
            </a:r>
            <a:r>
              <a:rPr kumimoji="1" lang="en-US" altLang="ja-JP" noProof="0"/>
              <a:t>2 </a:t>
            </a:r>
            <a:r>
              <a:rPr kumimoji="1" lang="ja-JP" altLang="en-US" noProof="0"/>
              <a:t>レベル</a:t>
            </a:r>
          </a:p>
          <a:p>
            <a:pPr lvl="2"/>
            <a:r>
              <a:rPr kumimoji="1" lang="ja-JP" altLang="en-US" noProof="0"/>
              <a:t>第 </a:t>
            </a:r>
            <a:r>
              <a:rPr kumimoji="1" lang="en-US" altLang="ja-JP" noProof="0"/>
              <a:t>3 </a:t>
            </a:r>
            <a:r>
              <a:rPr kumimoji="1" lang="ja-JP" altLang="en-US" noProof="0"/>
              <a:t>レベル</a:t>
            </a:r>
          </a:p>
          <a:p>
            <a:pPr lvl="3"/>
            <a:r>
              <a:rPr kumimoji="1" lang="ja-JP" altLang="en-US" noProof="0"/>
              <a:t>第 </a:t>
            </a:r>
            <a:r>
              <a:rPr kumimoji="1" lang="en-US" altLang="ja-JP" noProof="0"/>
              <a:t>4 </a:t>
            </a:r>
            <a:r>
              <a:rPr kumimoji="1" lang="ja-JP" altLang="en-US" noProof="0"/>
              <a:t>レベル</a:t>
            </a:r>
          </a:p>
          <a:p>
            <a:pPr lvl="4"/>
            <a:r>
              <a:rPr kumimoji="1" lang="ja-JP" altLang="en-US" noProof="0"/>
              <a:t>第 </a:t>
            </a:r>
            <a:r>
              <a:rPr kumimoji="1" lang="en-US" altLang="ja-JP" noProof="0"/>
              <a:t>5 </a:t>
            </a:r>
            <a:r>
              <a:rPr kumimoji="1"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435B119-9FF5-4568-9B65-4B3563591761}" type="slidenum">
              <a:rPr kumimoji="1" lang="en-US" altLang="ja-JP" noProof="0" smtClean="0"/>
              <a:pPr/>
              <a:t>‹#›</a:t>
            </a:fld>
            <a:endParaRPr kumimoji="1"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17303156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7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0266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73AD-ECEC-1CCC-EEE5-B83193F3F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29B1C8-6977-2DD5-A297-59681D32C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1D2226-AE19-40DD-AD63-762FCA9A0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AE8501-B647-C445-E318-1F61037A8A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5B119-9FF5-4568-9B65-4B3563591761}" type="slidenum">
              <a:rPr kumimoji="1" lang="en-US" altLang="ja-JP" smtClean="0"/>
              <a:pPr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23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/>
          <p:nvPr/>
        </p:nvSpPr>
        <p:spPr>
          <a:xfrm>
            <a:off x="464567" y="1204713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55A81C4-D811-47A9-A16F-7B903AB0DF35}" type="datetime5">
              <a:rPr lang="ja-JP" altLang="en-US" noProof="0" smtClean="0"/>
              <a:t>2026/06/17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長方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EA5C0-5361-4953-95B0-3DD2B2BA6629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FAFC254-C091-41E7-ACAA-664E4CFFB034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5982" y="606555"/>
            <a:ext cx="11300036" cy="5560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F33724-33B4-4BFA-BE59-712B72CE7D10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長方形 10"/>
          <p:cNvSpPr>
            <a:spLocks noChangeAspect="1"/>
          </p:cNvSpPr>
          <p:nvPr/>
        </p:nvSpPr>
        <p:spPr>
          <a:xfrm>
            <a:off x="445982" y="606554"/>
            <a:ext cx="11300036" cy="68666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18BB-D620-42CE-AEC2-5EA9A43FAA16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87E9E-4199-4D2B-A359-74FF0919C715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7" name="長方形 6"/>
          <p:cNvSpPr>
            <a:spLocks noChangeAspect="1"/>
          </p:cNvSpPr>
          <p:nvPr userDrawn="1"/>
        </p:nvSpPr>
        <p:spPr>
          <a:xfrm>
            <a:off x="440683" y="606555"/>
            <a:ext cx="11300036" cy="5821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D951F-A49D-4FC4-A8C7-EB58BF3234FC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キャプション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949338-CF6A-4A9B-9D36-FA472B40DCB9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長方形 7"/>
          <p:cNvSpPr>
            <a:spLocks noChangeAspect="1"/>
          </p:cNvSpPr>
          <p:nvPr/>
        </p:nvSpPr>
        <p:spPr>
          <a:xfrm>
            <a:off x="440286" y="614407"/>
            <a:ext cx="11309338" cy="5220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EF0213-2579-4340-A715-6D4B8F0ACC5F}" type="datetime5">
              <a:rPr lang="ja-JP" altLang="en-US" noProof="0" smtClean="0"/>
              <a:t>2026/06/17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9DAA9FD-D334-478A-8FD2-99271AF9FEDD}" type="datetime5">
              <a:rPr lang="ja-JP" altLang="en-US" noProof="0" smtClean="0"/>
              <a:t>2026/06/17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57F1E4F-1CFF-5643-939E-217C01CDF56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9" name="長方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長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長方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1" r:id="rId8"/>
    <p:sldLayoutId id="2147483682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6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ka-Lab-Python/Human_AI_mathematics/blob/main/Coordinate_transform(2026_06_17).ipyn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Taka-Lab-Python/Human_AI_mathematics/blob/main/Image_transport.ipynb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Taka-Lab-Python/Human_AI_mathematics/blob/main/s_2.jpg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長方形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7" name="グループ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長方形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長方形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長方形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長方形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1F6C9-4483-5AE6-CA26-99ABE8DEA3F2}"/>
              </a:ext>
            </a:extLst>
          </p:cNvPr>
          <p:cNvSpPr txBox="1"/>
          <p:nvPr/>
        </p:nvSpPr>
        <p:spPr>
          <a:xfrm>
            <a:off x="2298194" y="2045212"/>
            <a:ext cx="79581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Python</a:t>
            </a:r>
            <a:r>
              <a:rPr kumimoji="1" lang="ja-JP" altLang="en-US" sz="44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を使った線形代数学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0C967B-4F19-F5BA-B660-61C196E77636}"/>
              </a:ext>
            </a:extLst>
          </p:cNvPr>
          <p:cNvSpPr txBox="1"/>
          <p:nvPr/>
        </p:nvSpPr>
        <p:spPr>
          <a:xfrm>
            <a:off x="2564340" y="4881563"/>
            <a:ext cx="70294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kumimoji="1" lang="ja-JP" altLang="en-US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数学　線形代数学</a:t>
            </a:r>
            <a:endParaRPr kumimoji="1" lang="en-US" altLang="ja-JP" sz="4400" b="1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algn="ctr"/>
            <a:r>
              <a:rPr kumimoji="1" lang="ja-JP" altLang="en-US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固有値・１次変換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1CC3BAC-ED55-5086-2F6E-3B0D04D109C1}"/>
              </a:ext>
            </a:extLst>
          </p:cNvPr>
          <p:cNvSpPr txBox="1"/>
          <p:nvPr/>
        </p:nvSpPr>
        <p:spPr>
          <a:xfrm>
            <a:off x="2564340" y="3044279"/>
            <a:ext cx="7029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AI</a:t>
            </a:r>
            <a:r>
              <a:rPr kumimoji="1" lang="ja-JP" altLang="en-US" sz="4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数学　</a:t>
            </a:r>
            <a:r>
              <a:rPr kumimoji="1" lang="en-US" altLang="ja-JP" sz="4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2026-06-17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B92E7E4-E9B2-8C30-237D-EB03CF188C48}"/>
              </a:ext>
            </a:extLst>
          </p:cNvPr>
          <p:cNvSpPr txBox="1"/>
          <p:nvPr/>
        </p:nvSpPr>
        <p:spPr>
          <a:xfrm>
            <a:off x="2235727" y="772566"/>
            <a:ext cx="7029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GitHub</a:t>
            </a:r>
            <a:r>
              <a:rPr kumimoji="1" lang="ja-JP" altLang="en-US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からダウンロード</a:t>
            </a:r>
            <a:endParaRPr kumimoji="1" lang="en-US" altLang="ja-JP" sz="4400" b="1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5474C1-A5FD-10FC-9BB7-2447C509BE01}"/>
              </a:ext>
            </a:extLst>
          </p:cNvPr>
          <p:cNvSpPr txBox="1"/>
          <p:nvPr/>
        </p:nvSpPr>
        <p:spPr>
          <a:xfrm>
            <a:off x="1014412" y="2596643"/>
            <a:ext cx="438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GitHub</a:t>
            </a:r>
            <a:endParaRPr lang="ja-JP" altLang="en-US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859D8AD8-0704-AEE5-575D-AA781A04065D}"/>
              </a:ext>
            </a:extLst>
          </p:cNvPr>
          <p:cNvGrpSpPr/>
          <p:nvPr/>
        </p:nvGrpSpPr>
        <p:grpSpPr>
          <a:xfrm>
            <a:off x="5159945" y="4159654"/>
            <a:ext cx="3383980" cy="1099959"/>
            <a:chOff x="7288783" y="4852926"/>
            <a:chExt cx="3383980" cy="1099959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A24DA60F-3E7C-3207-B98D-5EDBC8CB1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8783" y="4852926"/>
              <a:ext cx="1804718" cy="836625"/>
            </a:xfrm>
            <a:prstGeom prst="rect">
              <a:avLst/>
            </a:prstGeom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041575B-6B04-284E-1932-07FC4FB7F3AB}"/>
                </a:ext>
              </a:extLst>
            </p:cNvPr>
            <p:cNvSpPr txBox="1"/>
            <p:nvPr/>
          </p:nvSpPr>
          <p:spPr>
            <a:xfrm>
              <a:off x="8372473" y="5491220"/>
              <a:ext cx="23002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2400" b="1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ダウンロード</a:t>
              </a:r>
            </a:p>
          </p:txBody>
        </p:sp>
      </p:grp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2BEB684-2FAB-C8BA-CE79-6688CEF218B5}"/>
              </a:ext>
            </a:extLst>
          </p:cNvPr>
          <p:cNvSpPr txBox="1"/>
          <p:nvPr/>
        </p:nvSpPr>
        <p:spPr>
          <a:xfrm>
            <a:off x="1560909" y="4436355"/>
            <a:ext cx="23002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マウス右クリック</a:t>
            </a:r>
            <a:endParaRPr lang="en-US" altLang="ja-JP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リンクを開く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F16ED27-3534-C470-1724-A15FA1B14A45}"/>
              </a:ext>
            </a:extLst>
          </p:cNvPr>
          <p:cNvCxnSpPr>
            <a:stCxn id="8" idx="0"/>
          </p:cNvCxnSpPr>
          <p:nvPr/>
        </p:nvCxnSpPr>
        <p:spPr>
          <a:xfrm flipV="1">
            <a:off x="2711054" y="3613666"/>
            <a:ext cx="46434" cy="822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880AD3-E2AB-5D71-57E3-E9F9D7681CAE}"/>
              </a:ext>
            </a:extLst>
          </p:cNvPr>
          <p:cNvSpPr txBox="1"/>
          <p:nvPr/>
        </p:nvSpPr>
        <p:spPr>
          <a:xfrm>
            <a:off x="367903" y="3193333"/>
            <a:ext cx="11672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>
                <a:hlinkClick r:id="rId3"/>
              </a:rPr>
              <a:t>Human_AI_mathematics/Coordinate_transform(2026_06_17).ipynb at main · Taka-Lab-Python/Human_AI_mathematics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3614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DBCCD3-6E3D-ED03-080A-9B75F80D1291}"/>
              </a:ext>
            </a:extLst>
          </p:cNvPr>
          <p:cNvSpPr txBox="1"/>
          <p:nvPr/>
        </p:nvSpPr>
        <p:spPr>
          <a:xfrm>
            <a:off x="2235727" y="772566"/>
            <a:ext cx="7029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matplotlib</a:t>
            </a:r>
            <a:r>
              <a:rPr kumimoji="1" lang="ja-JP" altLang="en-US" sz="4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の説明</a:t>
            </a:r>
            <a:endParaRPr kumimoji="1" lang="en-US" altLang="ja-JP" sz="4400" b="1">
              <a:solidFill>
                <a:schemeClr val="bg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03682E-D962-5112-5FC6-DAEB6FDEE4B2}"/>
              </a:ext>
            </a:extLst>
          </p:cNvPr>
          <p:cNvSpPr txBox="1"/>
          <p:nvPr/>
        </p:nvSpPr>
        <p:spPr>
          <a:xfrm>
            <a:off x="1283492" y="4883092"/>
            <a:ext cx="9129713" cy="432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30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plt.plot(w_t[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 w_t[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 color=</a:t>
            </a:r>
            <a:r>
              <a:rPr lang="ja-JP" altLang="ja-JP" sz="24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"red"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marker=</a:t>
            </a:r>
            <a:r>
              <a:rPr lang="ja-JP" altLang="ja-JP" sz="24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'o'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linewidth=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85633DE-50BF-FFF3-9F86-7B4229CE55A5}"/>
              </a:ext>
            </a:extLst>
          </p:cNvPr>
          <p:cNvSpPr txBox="1"/>
          <p:nvPr/>
        </p:nvSpPr>
        <p:spPr>
          <a:xfrm>
            <a:off x="1645443" y="1899094"/>
            <a:ext cx="6093618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>
              <a:lnSpc>
                <a:spcPts val="3100"/>
              </a:lnSpc>
            </a:pPr>
            <a:r>
              <a:rPr lang="ja-JP" altLang="ja-JP" sz="2800">
                <a:solidFill>
                  <a:srgbClr val="008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 </a:t>
            </a:r>
            <a:r>
              <a:rPr lang="en-US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w[0]=</a:t>
            </a:r>
            <a:r>
              <a:rPr lang="ja-JP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[x1, </a:t>
            </a:r>
            <a:r>
              <a:rPr lang="en-US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y1</a:t>
            </a:r>
            <a:r>
              <a:rPr lang="ja-JP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  </a:t>
            </a:r>
            <a:r>
              <a:rPr lang="en-US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w[1]</a:t>
            </a:r>
            <a:r>
              <a:rPr lang="ja-JP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=[</a:t>
            </a:r>
            <a:r>
              <a:rPr lang="en-US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x2</a:t>
            </a:r>
            <a:r>
              <a:rPr lang="ja-JP" altLang="ja-JP" sz="2800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y2]</a:t>
            </a:r>
            <a:endParaRPr lang="en-US" altLang="ja-JP" sz="2800" b="0">
              <a:solidFill>
                <a:srgbClr val="FF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 = np.array([[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プロットするために変換</a:t>
            </a:r>
            <a:endParaRPr lang="ja-JP" altLang="ja-JP" sz="24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w_t = w</a:t>
            </a:r>
            <a:r>
              <a:rPr lang="ja-JP" altLang="ja-JP" sz="2800" b="0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  <a:r>
              <a:rPr lang="ja-JP" altLang="ja-JP" sz="2400" b="0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</a:t>
            </a: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 x=[x1, x2]  y=[y1, y2]</a:t>
            </a:r>
            <a:endParaRPr lang="ja-JP" altLang="ja-JP" sz="24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 = w_t[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 marL="36000">
              <a:lnSpc>
                <a:spcPts val="31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y = w_t[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>
              <a:lnSpc>
                <a:spcPts val="1200"/>
              </a:lnSpc>
              <a:buNone/>
            </a:pPr>
            <a:endParaRPr lang="ja-JP" altLang="ja-JP" b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6D17F0-C555-233F-BF35-C866E4C428BC}"/>
              </a:ext>
            </a:extLst>
          </p:cNvPr>
          <p:cNvSpPr txBox="1"/>
          <p:nvPr/>
        </p:nvSpPr>
        <p:spPr>
          <a:xfrm>
            <a:off x="6346030" y="3568832"/>
            <a:ext cx="4040984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3000"/>
              </a:lnSpc>
              <a:buNone/>
            </a:pPr>
            <a:r>
              <a:rPr lang="ja-JP" altLang="ja-JP" sz="28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plt.plot(</a:t>
            </a:r>
            <a:r>
              <a:rPr lang="en-US" altLang="ja-JP" sz="2800" b="1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[x1,x2]</a:t>
            </a:r>
            <a:r>
              <a:rPr lang="ja-JP" altLang="ja-JP" sz="2800" b="1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en-US" altLang="ja-JP" sz="2800" b="1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[y1, y2]</a:t>
            </a:r>
            <a:r>
              <a:rPr lang="ja-JP" altLang="ja-JP" sz="28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3855504D-06D0-8DB4-DA7A-F51FF1FA19E6}"/>
              </a:ext>
            </a:extLst>
          </p:cNvPr>
          <p:cNvCxnSpPr>
            <a:endCxn id="10" idx="0"/>
          </p:cNvCxnSpPr>
          <p:nvPr/>
        </p:nvCxnSpPr>
        <p:spPr>
          <a:xfrm>
            <a:off x="6457950" y="2171700"/>
            <a:ext cx="1908572" cy="13971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5BA87A1-1266-4BFD-A450-CEFF1BFCB625}"/>
              </a:ext>
            </a:extLst>
          </p:cNvPr>
          <p:cNvSpPr txBox="1"/>
          <p:nvPr/>
        </p:nvSpPr>
        <p:spPr>
          <a:xfrm>
            <a:off x="1283493" y="5846907"/>
            <a:ext cx="3631407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3000"/>
              </a:lnSpc>
              <a:buNone/>
            </a:pP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 b, c, d = 1, 2, 3, 4</a:t>
            </a:r>
            <a:endParaRPr lang="ja-JP" altLang="ja-JP" sz="28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6EF05D4-8A4F-64D5-BF09-655DCB382BD3}"/>
              </a:ext>
            </a:extLst>
          </p:cNvPr>
          <p:cNvSpPr txBox="1"/>
          <p:nvPr/>
        </p:nvSpPr>
        <p:spPr>
          <a:xfrm>
            <a:off x="5074144" y="5564546"/>
            <a:ext cx="1548408" cy="9882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1800"/>
              </a:lnSpc>
              <a:buNone/>
            </a:pPr>
            <a:r>
              <a:rPr lang="en-US" altLang="ja-JP" sz="14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a=1</a:t>
            </a:r>
          </a:p>
          <a:p>
            <a:pPr marL="36000">
              <a:lnSpc>
                <a:spcPts val="1800"/>
              </a:lnSpc>
              <a:buNone/>
            </a:pPr>
            <a:r>
              <a:rPr lang="en-US" altLang="ja-JP" sz="1400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b=2</a:t>
            </a:r>
          </a:p>
          <a:p>
            <a:pPr marL="36000">
              <a:lnSpc>
                <a:spcPts val="1800"/>
              </a:lnSpc>
              <a:buNone/>
            </a:pPr>
            <a:r>
              <a:rPr lang="en-US" altLang="ja-JP" sz="14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c=3</a:t>
            </a:r>
          </a:p>
          <a:p>
            <a:pPr marL="36000">
              <a:lnSpc>
                <a:spcPts val="1800"/>
              </a:lnSpc>
              <a:buNone/>
            </a:pPr>
            <a:r>
              <a:rPr lang="en-US" altLang="ja-JP" sz="1400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d=4</a:t>
            </a:r>
            <a:endParaRPr lang="ja-JP" altLang="ja-JP" sz="1400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35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CC2D8C-4A71-93C0-9C32-F71801BC4165}"/>
              </a:ext>
            </a:extLst>
          </p:cNvPr>
          <p:cNvSpPr txBox="1"/>
          <p:nvPr/>
        </p:nvSpPr>
        <p:spPr>
          <a:xfrm>
            <a:off x="2581275" y="623889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固有値と固有ベクトル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30BD6D-D541-65FD-4877-52334652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5163" y="6157912"/>
            <a:ext cx="636727" cy="214495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4</a:t>
            </a:fld>
            <a:endParaRPr lang="en-US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89D2EF8-A353-CCBE-6D4E-9873AF2D3D89}"/>
                  </a:ext>
                </a:extLst>
              </p:cNvPr>
              <p:cNvSpPr txBox="1"/>
              <p:nvPr/>
            </p:nvSpPr>
            <p:spPr>
              <a:xfrm>
                <a:off x="732234" y="1343862"/>
                <a:ext cx="4639866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【</a:t>
                </a:r>
                <a:r>
                  <a:rPr lang="ja-JP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問題</a:t>
                </a: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1】</a:t>
                </a:r>
                <a:endParaRPr lang="ja-JP" altLang="ja-JP" sz="2400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  <a:p>
                <a:pPr>
                  <a:buNone/>
                </a:pP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次の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正方</a:t>
                </a: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行列 </a:t>
                </a:r>
                <a14:m>
                  <m:oMath xmlns:m="http://schemas.openxmlformats.org/officeDocument/2006/math">
                    <m:r>
                      <a:rPr lang="ja-JP" altLang="en-US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ja-JP" altLang="en-US" b="1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固有値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λ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と固有ベクトルｖ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  <a:p>
                <a:pPr>
                  <a:buNone/>
                </a:pP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を計算しなさい。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89D2EF8-A353-CCBE-6D4E-9873AF2D3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34" y="1343862"/>
                <a:ext cx="4639866" cy="1015663"/>
              </a:xfrm>
              <a:prstGeom prst="rect">
                <a:avLst/>
              </a:prstGeom>
              <a:blipFill>
                <a:blip r:embed="rId2"/>
                <a:stretch>
                  <a:fillRect l="-1971" t="-4790" b="-838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662FCBA4-B95C-E298-6BC8-F3BCB6771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3000"/>
                    </a14:imgEffect>
                    <a14:imgEffect>
                      <a14:brightnessContrast contras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50241" y="2278524"/>
            <a:ext cx="1528794" cy="87807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B6D02D-5DD7-3A0D-D2DA-79B6E06F4D16}"/>
              </a:ext>
            </a:extLst>
          </p:cNvPr>
          <p:cNvSpPr txBox="1"/>
          <p:nvPr/>
        </p:nvSpPr>
        <p:spPr>
          <a:xfrm>
            <a:off x="586516" y="3345899"/>
            <a:ext cx="4212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2000" b="1"/>
              <a:t>固有値・固有ベクトルの定義</a:t>
            </a:r>
            <a:endParaRPr lang="ja-JP" altLang="en-US" sz="2000" b="1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C97978C-392E-CF6D-40FC-DD606F64A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673" y="3635719"/>
            <a:ext cx="1610989" cy="61754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0F702AE5-E857-FD1D-7B87-2B07DB2F6D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1000"/>
                    </a14:imgEffect>
                    <a14:imgEffect>
                      <a14:brightnessContrast contras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234" y="4371635"/>
            <a:ext cx="2268141" cy="1645364"/>
          </a:xfrm>
          <a:prstGeom prst="rect">
            <a:avLst/>
          </a:prstGeom>
        </p:spPr>
      </p:pic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34905D4-11F6-D3B1-D015-700B59F3D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090569"/>
              </p:ext>
            </p:extLst>
          </p:nvPr>
        </p:nvGraphicFramePr>
        <p:xfrm>
          <a:off x="4799262" y="4527799"/>
          <a:ext cx="4917556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7556">
                  <a:extLst>
                    <a:ext uri="{9D8B030D-6E8A-4147-A177-3AD203B41FA5}">
                      <a16:colId xmlns:a16="http://schemas.microsoft.com/office/drawing/2014/main" val="64403442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98039426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こたえ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98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固有値</a:t>
                      </a:r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λ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8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固有ベクトル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2000" algn="l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x1= </a:t>
                      </a:r>
                    </a:p>
                    <a:p>
                      <a:pPr marL="72000" algn="l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x2=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180150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F7E8F3-AD23-75FE-24FB-2E5BD8DE7A97}"/>
              </a:ext>
            </a:extLst>
          </p:cNvPr>
          <p:cNvSpPr txBox="1"/>
          <p:nvPr/>
        </p:nvSpPr>
        <p:spPr>
          <a:xfrm>
            <a:off x="5853841" y="1467234"/>
            <a:ext cx="4212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000" b="1"/>
              <a:t>Python</a:t>
            </a:r>
            <a:r>
              <a:rPr lang="ja-JP" altLang="en-US" sz="2000" b="1"/>
              <a:t>を使わない</a:t>
            </a:r>
          </a:p>
        </p:txBody>
      </p:sp>
    </p:spTree>
    <p:extLst>
      <p:ext uri="{BB962C8B-B14F-4D97-AF65-F5344CB8AC3E}">
        <p14:creationId xmlns:p14="http://schemas.microsoft.com/office/powerpoint/2010/main" val="54028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164A4-34F5-D5DE-4C46-F7BE171F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E03950-6FFB-E5AB-D87F-8F4D86888037}"/>
              </a:ext>
            </a:extLst>
          </p:cNvPr>
          <p:cNvSpPr txBox="1"/>
          <p:nvPr/>
        </p:nvSpPr>
        <p:spPr>
          <a:xfrm>
            <a:off x="2353384" y="628977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ベクトルの変換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C66B9F1-1A81-5B6C-2464-046C144966A2}"/>
                  </a:ext>
                </a:extLst>
              </p:cNvPr>
              <p:cNvSpPr txBox="1"/>
              <p:nvPr/>
            </p:nvSpPr>
            <p:spPr>
              <a:xfrm>
                <a:off x="213830" y="1442371"/>
                <a:ext cx="5654279" cy="157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">
                  <a:lnSpc>
                    <a:spcPts val="3000"/>
                  </a:lnSpc>
                  <a:buNone/>
                </a:pP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【</a:t>
                </a:r>
                <a:r>
                  <a:rPr lang="ja-JP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問題</a:t>
                </a: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2】</a:t>
                </a: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行列 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A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</a:rPr>
                      <m:t>は</m:t>
                    </m:r>
                  </m:oMath>
                </a14:m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ベクトル</a:t>
                </a:r>
                <a:r>
                  <a:rPr lang="en-US" altLang="ja-JP" sz="20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v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を伸ばしたり、縮小したりできます。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元のベクトルｖ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(1, 1)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を角度を変えずに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4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倍する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行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列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A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を作りなさい。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C66B9F1-1A81-5B6C-2464-046C14496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30" y="1442371"/>
                <a:ext cx="5654279" cy="1573957"/>
              </a:xfrm>
              <a:prstGeom prst="rect">
                <a:avLst/>
              </a:prstGeom>
              <a:blipFill>
                <a:blip r:embed="rId2"/>
                <a:stretch>
                  <a:fillRect l="-970" t="-5039" r="-323" b="-50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スライド番号プレースホルダー 4">
            <a:extLst>
              <a:ext uri="{FF2B5EF4-FFF2-40B4-BE49-F238E27FC236}">
                <a16:creationId xmlns:a16="http://schemas.microsoft.com/office/drawing/2014/main" id="{4C120AB8-3988-6D48-AB41-78590137B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5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01F7D15-0278-55EC-27E2-11330F75EC8F}"/>
              </a:ext>
            </a:extLst>
          </p:cNvPr>
          <p:cNvGrpSpPr/>
          <p:nvPr/>
        </p:nvGrpSpPr>
        <p:grpSpPr>
          <a:xfrm>
            <a:off x="6344506" y="1196638"/>
            <a:ext cx="4279081" cy="5365571"/>
            <a:chOff x="6348167" y="1384291"/>
            <a:chExt cx="4279081" cy="5527587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4C2A38DB-50CB-B65D-8F52-4FD76468E684}"/>
                </a:ext>
              </a:extLst>
            </p:cNvPr>
            <p:cNvSpPr txBox="1"/>
            <p:nvPr/>
          </p:nvSpPr>
          <p:spPr>
            <a:xfrm>
              <a:off x="6348167" y="1384291"/>
              <a:ext cx="3939287" cy="552758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marL="36000">
                <a:lnSpc>
                  <a:spcPts val="2000"/>
                </a:lnSpc>
                <a:buNone/>
              </a:pPr>
              <a:r>
                <a:rPr lang="ja-JP" altLang="ja-JP" b="1">
                  <a:solidFill>
                    <a:srgbClr val="008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# 【問題2】</a:t>
              </a:r>
              <a:endPara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r>
                <a:rPr lang="ja-JP" altLang="ja-JP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import pandas as pd</a:t>
              </a:r>
            </a:p>
            <a:p>
              <a:r>
                <a:rPr lang="ja-JP" altLang="ja-JP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from matplotlib import pyplot as plt</a:t>
              </a:r>
            </a:p>
            <a:p>
              <a:pPr marL="36000">
                <a:lnSpc>
                  <a:spcPts val="2000"/>
                </a:lnSpc>
                <a:buNone/>
              </a:pPr>
              <a:endParaRPr lang="en-US" altLang="ja-JP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plt.figure(figsize=[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5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, 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5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])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8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# 最初のベクトルｘ</a:t>
              </a:r>
              <a:endParaRPr lang="ja-JP" altLang="ja-JP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 = np.array([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, 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])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x1 = v[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0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y1 = v[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</a:t>
              </a:r>
            </a:p>
            <a:p>
              <a:pPr marL="36000">
                <a:lnSpc>
                  <a:spcPts val="2000"/>
                </a:lnSpc>
                <a:buNone/>
              </a:pPr>
              <a:endParaRPr lang="ja-JP" altLang="ja-JP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8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# xを角度を変えずに4倍しなさい</a:t>
              </a:r>
              <a:endParaRPr lang="ja-JP" altLang="ja-JP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800"/>
                </a:lnSpc>
                <a:buNone/>
              </a:pPr>
              <a:r>
                <a:rPr lang="ja-JP" altLang="ja-JP" b="1">
                  <a:solidFill>
                    <a:srgbClr val="FF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a, b, c, d = </a:t>
              </a:r>
              <a:r>
                <a:rPr lang="en-US" altLang="ja-JP" b="1">
                  <a:solidFill>
                    <a:srgbClr val="FF0000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,  ,  ,  </a:t>
              </a:r>
              <a:endParaRPr lang="ja-JP" altLang="ja-JP" b="1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</a:t>
              </a:r>
              <a:r>
                <a:rPr lang="ja-JP" altLang="ja-JP" b="1"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= np.array([[a, b], 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1"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      </a:t>
              </a:r>
              <a:r>
                <a:rPr lang="en-US" altLang="ja-JP" b="1"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    </a:t>
              </a:r>
              <a:r>
                <a:rPr lang="ja-JP" altLang="ja-JP" b="1"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       [c, d]])</a:t>
              </a:r>
            </a:p>
            <a:p>
              <a:pPr marL="36000">
                <a:lnSpc>
                  <a:spcPts val="2000"/>
                </a:lnSpc>
                <a:buNone/>
              </a:pPr>
              <a:endPara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1">
                  <a:solidFill>
                    <a:srgbClr val="008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# 4倍した新しいベクトル</a:t>
              </a:r>
              <a:endPara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sz="2400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s = </a:t>
              </a:r>
              <a:r>
                <a:rPr lang="en-US" altLang="ja-JP" sz="2400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</a:t>
              </a:r>
              <a:r>
                <a:rPr lang="ja-JP" altLang="ja-JP" sz="2400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@ v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x2 = s[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0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y2 = s[</a:t>
              </a:r>
              <a:r>
                <a:rPr lang="ja-JP" altLang="ja-JP" b="0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</a:t>
              </a:r>
            </a:p>
            <a:p>
              <a:pPr marL="36000">
                <a:lnSpc>
                  <a:spcPts val="2000"/>
                </a:lnSpc>
                <a:buNone/>
              </a:pPr>
              <a:r>
                <a:rPr lang="ja-JP" altLang="ja-JP" b="0">
                  <a:solidFill>
                    <a:srgbClr val="6A5221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print</a:t>
              </a:r>
              <a:r>
                <a:rPr lang="ja-JP" altLang="ja-JP" b="0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(s)</a:t>
              </a:r>
            </a:p>
          </p:txBody>
        </p:sp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95E6C1AD-7313-7E81-6CEC-C396499B8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36418" y="2922991"/>
              <a:ext cx="1093483" cy="765438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316DCDD4-F153-3ADA-ABB8-B7D6429A9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32553" y="4328471"/>
              <a:ext cx="1794695" cy="980708"/>
            </a:xfrm>
            <a:prstGeom prst="rect">
              <a:avLst/>
            </a:prstGeom>
          </p:spPr>
        </p:pic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6D42810-E0CF-63EB-5F14-887AB0147EE0}"/>
              </a:ext>
            </a:extLst>
          </p:cNvPr>
          <p:cNvSpPr txBox="1"/>
          <p:nvPr/>
        </p:nvSpPr>
        <p:spPr>
          <a:xfrm>
            <a:off x="9761798" y="2759092"/>
            <a:ext cx="199678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>
              <a:lnSpc>
                <a:spcPts val="20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x1 = v[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  <a:r>
              <a:rPr lang="en-US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= 1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0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y1 = v[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  <a:r>
              <a:rPr lang="en-US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= 1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CB2B7FBE-AB25-92B2-C58D-2DB4C6819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16782"/>
              </p:ext>
            </p:extLst>
          </p:nvPr>
        </p:nvGraphicFramePr>
        <p:xfrm>
          <a:off x="772803" y="5423297"/>
          <a:ext cx="4200096" cy="103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0024">
                  <a:extLst>
                    <a:ext uri="{9D8B030D-6E8A-4147-A177-3AD203B41FA5}">
                      <a16:colId xmlns:a16="http://schemas.microsoft.com/office/drawing/2014/main" val="491469327"/>
                    </a:ext>
                  </a:extLst>
                </a:gridCol>
                <a:gridCol w="1050024">
                  <a:extLst>
                    <a:ext uri="{9D8B030D-6E8A-4147-A177-3AD203B41FA5}">
                      <a16:colId xmlns:a16="http://schemas.microsoft.com/office/drawing/2014/main" val="3397287638"/>
                    </a:ext>
                  </a:extLst>
                </a:gridCol>
                <a:gridCol w="1050024">
                  <a:extLst>
                    <a:ext uri="{9D8B030D-6E8A-4147-A177-3AD203B41FA5}">
                      <a16:colId xmlns:a16="http://schemas.microsoft.com/office/drawing/2014/main" val="3445744207"/>
                    </a:ext>
                  </a:extLst>
                </a:gridCol>
                <a:gridCol w="1050024">
                  <a:extLst>
                    <a:ext uri="{9D8B030D-6E8A-4147-A177-3AD203B41FA5}">
                      <a16:colId xmlns:a16="http://schemas.microsoft.com/office/drawing/2014/main" val="309349691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a</a:t>
                      </a:r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b</a:t>
                      </a:r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c</a:t>
                      </a:r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d</a:t>
                      </a:r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92237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4425312"/>
                  </a:ext>
                </a:extLst>
              </a:tr>
            </a:tbl>
          </a:graphicData>
        </a:graphic>
      </p:graphicFrame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095EDF9B-910E-D942-1730-56C40DDB9280}"/>
              </a:ext>
            </a:extLst>
          </p:cNvPr>
          <p:cNvGrpSpPr/>
          <p:nvPr/>
        </p:nvGrpSpPr>
        <p:grpSpPr>
          <a:xfrm>
            <a:off x="1865704" y="3271692"/>
            <a:ext cx="2939167" cy="1938950"/>
            <a:chOff x="1865704" y="3271692"/>
            <a:chExt cx="2939167" cy="1938950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6681A3A1-E76D-A634-6E96-1CF70565FF5F}"/>
                </a:ext>
              </a:extLst>
            </p:cNvPr>
            <p:cNvGrpSpPr/>
            <p:nvPr/>
          </p:nvGrpSpPr>
          <p:grpSpPr>
            <a:xfrm>
              <a:off x="1865704" y="3271692"/>
              <a:ext cx="2939167" cy="1187880"/>
              <a:chOff x="1865704" y="3271692"/>
              <a:chExt cx="2939167" cy="1187880"/>
            </a:xfrm>
          </p:grpSpPr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030F43F9-A116-25E4-9E9A-884D5BC358FC}"/>
                  </a:ext>
                </a:extLst>
              </p:cNvPr>
              <p:cNvGrpSpPr/>
              <p:nvPr/>
            </p:nvGrpSpPr>
            <p:grpSpPr>
              <a:xfrm>
                <a:off x="1865704" y="3279818"/>
                <a:ext cx="2494353" cy="1179754"/>
                <a:chOff x="1865704" y="3279818"/>
                <a:chExt cx="2494353" cy="1179754"/>
              </a:xfrm>
            </p:grpSpPr>
            <p:grpSp>
              <p:nvGrpSpPr>
                <p:cNvPr id="18" name="グループ化 17">
                  <a:extLst>
                    <a:ext uri="{FF2B5EF4-FFF2-40B4-BE49-F238E27FC236}">
                      <a16:creationId xmlns:a16="http://schemas.microsoft.com/office/drawing/2014/main" id="{656DD404-B6BE-64BC-0836-6E8D937EDFAC}"/>
                    </a:ext>
                  </a:extLst>
                </p:cNvPr>
                <p:cNvGrpSpPr/>
                <p:nvPr/>
              </p:nvGrpSpPr>
              <p:grpSpPr>
                <a:xfrm>
                  <a:off x="1865704" y="3586426"/>
                  <a:ext cx="2494353" cy="873146"/>
                  <a:chOff x="7974585" y="4937687"/>
                  <a:chExt cx="2494353" cy="873146"/>
                </a:xfrm>
              </p:grpSpPr>
              <p:grpSp>
                <p:nvGrpSpPr>
                  <p:cNvPr id="15" name="グループ化 14">
                    <a:extLst>
                      <a:ext uri="{FF2B5EF4-FFF2-40B4-BE49-F238E27FC236}">
                        <a16:creationId xmlns:a16="http://schemas.microsoft.com/office/drawing/2014/main" id="{A3E777AA-BC37-68F0-0969-0D683226ACE8}"/>
                      </a:ext>
                    </a:extLst>
                  </p:cNvPr>
                  <p:cNvGrpSpPr/>
                  <p:nvPr/>
                </p:nvGrpSpPr>
                <p:grpSpPr>
                  <a:xfrm>
                    <a:off x="7974585" y="5000735"/>
                    <a:ext cx="1487206" cy="810098"/>
                    <a:chOff x="7974585" y="5000735"/>
                    <a:chExt cx="1487206" cy="810098"/>
                  </a:xfrm>
                </p:grpSpPr>
                <p:pic>
                  <p:nvPicPr>
                    <p:cNvPr id="12" name="図 11">
                      <a:extLst>
                        <a:ext uri="{FF2B5EF4-FFF2-40B4-BE49-F238E27FC236}">
                          <a16:creationId xmlns:a16="http://schemas.microsoft.com/office/drawing/2014/main" id="{2BD66570-4357-55EB-5525-91FE8A24043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7974585" y="5006882"/>
                      <a:ext cx="1007147" cy="803951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図 13">
                      <a:extLst>
                        <a:ext uri="{FF2B5EF4-FFF2-40B4-BE49-F238E27FC236}">
                          <a16:creationId xmlns:a16="http://schemas.microsoft.com/office/drawing/2014/main" id="{B75C5CF2-3988-8B39-885D-5F516DCF58C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8981732" y="5000735"/>
                      <a:ext cx="480059" cy="810098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7" name="図 16">
                    <a:extLst>
                      <a:ext uri="{FF2B5EF4-FFF2-40B4-BE49-F238E27FC236}">
                        <a16:creationId xmlns:a16="http://schemas.microsoft.com/office/drawing/2014/main" id="{D5F6004E-AF92-414A-9C73-3AF3485A93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9536088" y="4937687"/>
                    <a:ext cx="932850" cy="86945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" name="テキスト ボックス 2">
                  <a:extLst>
                    <a:ext uri="{FF2B5EF4-FFF2-40B4-BE49-F238E27FC236}">
                      <a16:creationId xmlns:a16="http://schemas.microsoft.com/office/drawing/2014/main" id="{1FFE6464-8BE6-DE67-FAB3-4AF5E593C140}"/>
                    </a:ext>
                  </a:extLst>
                </p:cNvPr>
                <p:cNvSpPr txBox="1"/>
                <p:nvPr/>
              </p:nvSpPr>
              <p:spPr>
                <a:xfrm>
                  <a:off x="1990897" y="3303734"/>
                  <a:ext cx="683373" cy="3488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6000" algn="ctr">
                    <a:lnSpc>
                      <a:spcPts val="2000"/>
                    </a:lnSpc>
                    <a:buNone/>
                  </a:pPr>
                  <a:r>
                    <a:rPr lang="en-US" altLang="ja-JP" sz="2800" b="1">
                      <a:solidFill>
                        <a:srgbClr val="000000"/>
                      </a:solidFill>
                      <a:effectLst/>
                      <a:latin typeface="ＭＳ Ｐゴシック" panose="020B0600070205080204" pitchFamily="50" charset="-128"/>
                      <a:ea typeface="ＭＳ Ｐゴシック" panose="020B0600070205080204" pitchFamily="50" charset="-128"/>
                    </a:rPr>
                    <a:t>A</a:t>
                  </a:r>
                  <a:endParaRPr lang="ja-JP" altLang="ja-JP" sz="2800" b="1">
                    <a:solidFill>
                      <a:srgbClr val="000000"/>
                    </a:solidFill>
                    <a:effectLst/>
                    <a:latin typeface="ＭＳ Ｐゴシック" panose="020B0600070205080204" pitchFamily="50" charset="-128"/>
                    <a:ea typeface="ＭＳ Ｐゴシック" panose="020B0600070205080204" pitchFamily="50" charset="-128"/>
                  </a:endParaRPr>
                </a:p>
              </p:txBody>
            </p:sp>
            <p:sp>
              <p:nvSpPr>
                <p:cNvPr id="5" name="テキスト ボックス 4">
                  <a:extLst>
                    <a:ext uri="{FF2B5EF4-FFF2-40B4-BE49-F238E27FC236}">
                      <a16:creationId xmlns:a16="http://schemas.microsoft.com/office/drawing/2014/main" id="{DE2BD68E-5126-AD63-6561-969B037A6BDC}"/>
                    </a:ext>
                  </a:extLst>
                </p:cNvPr>
                <p:cNvSpPr txBox="1"/>
                <p:nvPr/>
              </p:nvSpPr>
              <p:spPr>
                <a:xfrm>
                  <a:off x="2699282" y="3279818"/>
                  <a:ext cx="683373" cy="3488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6000" algn="ctr">
                    <a:lnSpc>
                      <a:spcPts val="2000"/>
                    </a:lnSpc>
                    <a:buNone/>
                  </a:pPr>
                  <a:r>
                    <a:rPr lang="en-US" altLang="ja-JP" sz="2800" b="1">
                      <a:solidFill>
                        <a:srgbClr val="000000"/>
                      </a:solidFill>
                      <a:latin typeface="ＭＳ Ｐゴシック" panose="020B0600070205080204" pitchFamily="50" charset="-128"/>
                      <a:ea typeface="ＭＳ Ｐゴシック" panose="020B0600070205080204" pitchFamily="50" charset="-128"/>
                    </a:rPr>
                    <a:t>v</a:t>
                  </a:r>
                  <a:endParaRPr lang="ja-JP" altLang="ja-JP" sz="2800" b="1">
                    <a:solidFill>
                      <a:srgbClr val="000000"/>
                    </a:solidFill>
                    <a:effectLst/>
                    <a:latin typeface="ＭＳ Ｐゴシック" panose="020B0600070205080204" pitchFamily="50" charset="-128"/>
                    <a:ea typeface="ＭＳ Ｐゴシック" panose="020B0600070205080204" pitchFamily="50" charset="-128"/>
                  </a:endParaRPr>
                </a:p>
              </p:txBody>
            </p:sp>
          </p:grp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CD214D18-374D-EFCB-388F-F989DBF4B08A}"/>
                  </a:ext>
                </a:extLst>
              </p:cNvPr>
              <p:cNvSpPr txBox="1"/>
              <p:nvPr/>
            </p:nvSpPr>
            <p:spPr>
              <a:xfrm>
                <a:off x="3552749" y="3271692"/>
                <a:ext cx="1252122" cy="3488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" algn="ctr">
                  <a:lnSpc>
                    <a:spcPts val="2000"/>
                  </a:lnSpc>
                  <a:buNone/>
                </a:pPr>
                <a:r>
                  <a:rPr lang="en-US" altLang="ja-JP" sz="2800" b="1">
                    <a:solidFill>
                      <a:srgbClr val="000000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v_</a:t>
                </a:r>
                <a:r>
                  <a:rPr lang="en-US" altLang="ja-JP" sz="1600" b="1">
                    <a:solidFill>
                      <a:srgbClr val="000000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new</a:t>
                </a:r>
                <a:endParaRPr lang="ja-JP" altLang="ja-JP" sz="16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81BBF79A-B5D3-C374-0FB5-FDED73EBA612}"/>
                </a:ext>
              </a:extLst>
            </p:cNvPr>
            <p:cNvSpPr txBox="1"/>
            <p:nvPr/>
          </p:nvSpPr>
          <p:spPr>
            <a:xfrm>
              <a:off x="1959595" y="4495894"/>
              <a:ext cx="2243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a×1 + b×1 </a:t>
              </a:r>
              <a:endParaRPr kumimoji="1"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6E1448F2-B13F-F3B7-31C2-CFD7EED82BB5}"/>
                </a:ext>
              </a:extLst>
            </p:cNvPr>
            <p:cNvSpPr txBox="1"/>
            <p:nvPr/>
          </p:nvSpPr>
          <p:spPr>
            <a:xfrm>
              <a:off x="1987576" y="4841310"/>
              <a:ext cx="22431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c×1 + d×1 </a:t>
              </a:r>
              <a:endParaRPr kumimoji="1"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60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A2F4-B2EB-35C3-9825-D28DC9E2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E9F3E7-8FEC-595D-7FEF-AA5AC3959440}"/>
              </a:ext>
            </a:extLst>
          </p:cNvPr>
          <p:cNvSpPr txBox="1"/>
          <p:nvPr/>
        </p:nvSpPr>
        <p:spPr>
          <a:xfrm>
            <a:off x="2353384" y="628977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ベクトルの変換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D2098A1-29D7-4677-B6D7-0ECC2E94E553}"/>
              </a:ext>
            </a:extLst>
          </p:cNvPr>
          <p:cNvSpPr txBox="1"/>
          <p:nvPr/>
        </p:nvSpPr>
        <p:spPr>
          <a:xfrm>
            <a:off x="213830" y="1442371"/>
            <a:ext cx="5654279" cy="817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>
              <a:lnSpc>
                <a:spcPts val="3000"/>
              </a:lnSpc>
              <a:buNone/>
            </a:pPr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【</a:t>
            </a:r>
            <a:r>
              <a:rPr lang="ja-JP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問題</a:t>
            </a:r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2】</a:t>
            </a:r>
          </a:p>
          <a:p>
            <a:pPr marL="36000">
              <a:lnSpc>
                <a:spcPts val="3000"/>
              </a:lnSpc>
              <a:buNone/>
            </a:pPr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ベクトルの可視化</a:t>
            </a:r>
            <a:endParaRPr lang="en-US" altLang="ja-JP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21" name="スライド番号プレースホルダー 4">
            <a:extLst>
              <a:ext uri="{FF2B5EF4-FFF2-40B4-BE49-F238E27FC236}">
                <a16:creationId xmlns:a16="http://schemas.microsoft.com/office/drawing/2014/main" id="{8450ABE4-99E2-1F2E-78D0-C26F171F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6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B08E3502-D200-0ADC-1C89-C55117112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1" y="2611631"/>
            <a:ext cx="3758222" cy="368656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AF9B53B-7ABE-40C4-9769-8B0D3B1532C8}"/>
              </a:ext>
            </a:extLst>
          </p:cNvPr>
          <p:cNvSpPr txBox="1"/>
          <p:nvPr/>
        </p:nvSpPr>
        <p:spPr>
          <a:xfrm>
            <a:off x="3867967" y="1639284"/>
            <a:ext cx="8110203" cy="327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None/>
            </a:pPr>
            <a:endParaRPr lang="en-US" altLang="ja-JP" b="1">
              <a:solidFill>
                <a:srgbClr val="008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最初のベクトル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origin_x, origin_y = 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plt.scatter(x1, y1, c=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‘red’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80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alpha=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0.7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edgecolors=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‘black‘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</a:t>
            </a:r>
            <a:r>
              <a:rPr lang="en-US" altLang="ja-JP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</a:t>
            </a:r>
            <a: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点をプロット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plt.quiver(origin_x, origin_y, x1, y1, angles=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'xy'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scale_units=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'xy'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scale=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color=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'red'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  <a:p>
            <a:pPr>
              <a:lnSpc>
                <a:spcPts val="2800"/>
              </a:lnSpc>
              <a:buNone/>
            </a:pP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4倍したベクトル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plt.scatter(x2, y2, c=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‘blue’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80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alpha=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0.7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edgecolors=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‘black’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  <a:r>
              <a:rPr lang="en-US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# </a:t>
            </a:r>
            <a:r>
              <a:rPr lang="ja-JP" altLang="en-US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点をプロット</a:t>
            </a:r>
            <a:endParaRPr lang="ja-JP" altLang="ja-JP" b="1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2800"/>
              </a:lnSpc>
              <a:buNone/>
            </a:pP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plt.quiver(x1, y1, x2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-1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y2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-1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angles=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'xy'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scale_units=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'xy'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scale=</a:t>
            </a:r>
            <a:r>
              <a:rPr lang="ja-JP" altLang="ja-JP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color=</a:t>
            </a:r>
            <a:r>
              <a:rPr lang="ja-JP" altLang="ja-JP" b="1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'blue'</a:t>
            </a:r>
            <a:r>
              <a:rPr lang="ja-JP" altLang="ja-JP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070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B8C8BE-4894-272C-D965-3C2CD8872815}"/>
              </a:ext>
            </a:extLst>
          </p:cNvPr>
          <p:cNvSpPr txBox="1"/>
          <p:nvPr/>
        </p:nvSpPr>
        <p:spPr>
          <a:xfrm>
            <a:off x="2438400" y="638177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１次変換の問題</a:t>
            </a:r>
          </a:p>
        </p:txBody>
      </p:sp>
      <p:sp>
        <p:nvSpPr>
          <p:cNvPr id="2" name="スライド番号プレースホルダー 4">
            <a:extLst>
              <a:ext uri="{FF2B5EF4-FFF2-40B4-BE49-F238E27FC236}">
                <a16:creationId xmlns:a16="http://schemas.microsoft.com/office/drawing/2014/main" id="{F11E0729-4C99-C403-AC50-9FF8277A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7</a:t>
            </a:fld>
            <a:endParaRPr lang="en-US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F80C488-1B8B-84C7-DD96-D6B1836455AB}"/>
                  </a:ext>
                </a:extLst>
              </p:cNvPr>
              <p:cNvSpPr txBox="1"/>
              <p:nvPr/>
            </p:nvSpPr>
            <p:spPr>
              <a:xfrm>
                <a:off x="542441" y="1442371"/>
                <a:ext cx="5929797" cy="157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">
                  <a:lnSpc>
                    <a:spcPts val="3000"/>
                  </a:lnSpc>
                  <a:buNone/>
                </a:pP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【</a:t>
                </a:r>
                <a:r>
                  <a:rPr lang="ja-JP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問題</a:t>
                </a: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3】</a:t>
                </a: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行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列 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の行列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A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  <a:ea typeface="ＭＳ Ｐゴシック" panose="020B0600070205080204" pitchFamily="50" charset="-128"/>
                      </a:rPr>
                      <m:t>を</m:t>
                    </m:r>
                  </m:oMath>
                </a14:m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使ってベクトル</a:t>
                </a:r>
                <a:r>
                  <a:rPr lang="en-US" altLang="ja-JP" sz="20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v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X</a:t>
                </a:r>
                <a:r>
                  <a:rPr lang="ja-JP" altLang="en-US" b="1">
                    <a:solidFill>
                      <a:srgbClr val="FF0000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軸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を対称に転写させなさい。</a:t>
                </a: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元のベクトル：ｖ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AF80C488-1B8B-84C7-DD96-D6B183645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41" y="1442371"/>
                <a:ext cx="5929797" cy="1573957"/>
              </a:xfrm>
              <a:prstGeom prst="rect">
                <a:avLst/>
              </a:prstGeom>
              <a:blipFill>
                <a:blip r:embed="rId3"/>
                <a:stretch>
                  <a:fillRect l="-1028" t="-5039" b="-50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090D477-D574-72BD-AD6A-CA344EA83318}"/>
              </a:ext>
            </a:extLst>
          </p:cNvPr>
          <p:cNvGrpSpPr/>
          <p:nvPr/>
        </p:nvGrpSpPr>
        <p:grpSpPr>
          <a:xfrm>
            <a:off x="426217" y="3119244"/>
            <a:ext cx="4370841" cy="3877064"/>
            <a:chOff x="6802579" y="1647631"/>
            <a:chExt cx="4370841" cy="3877064"/>
          </a:xfrm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737001C8-1CBD-64EE-FF06-D252B8ECF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02579" y="1647631"/>
              <a:ext cx="4370841" cy="3877064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C322EC0-66A7-FAC1-8C29-C066242F4F40}"/>
                </a:ext>
              </a:extLst>
            </p:cNvPr>
            <p:cNvSpPr txBox="1"/>
            <p:nvPr/>
          </p:nvSpPr>
          <p:spPr>
            <a:xfrm>
              <a:off x="7675960" y="2002103"/>
              <a:ext cx="148232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v= [[1 1] </a:t>
              </a:r>
              <a:endParaRPr lang="en-US" altLang="ja-JP" sz="2000" b="1">
                <a:solidFill>
                  <a:srgbClr val="1F1F1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  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[4 3]]</a:t>
              </a:r>
              <a:endParaRPr lang="ja-JP" altLang="en-US" sz="2000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4D3D125B-9311-3CC5-F688-0886ED73039F}"/>
                </a:ext>
              </a:extLst>
            </p:cNvPr>
            <p:cNvSpPr txBox="1"/>
            <p:nvPr/>
          </p:nvSpPr>
          <p:spPr>
            <a:xfrm>
              <a:off x="7785767" y="4214814"/>
              <a:ext cx="201545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_new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= [[1 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-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1] </a:t>
              </a:r>
              <a:endParaRPr lang="en-US" altLang="ja-JP" sz="2000" b="1">
                <a:solidFill>
                  <a:srgbClr val="1F1F1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          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[4 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-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3]]</a:t>
              </a:r>
              <a:endParaRPr lang="ja-JP" altLang="en-US" sz="2000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9886E91-90C3-6DEB-8D4B-0C117CD98EAA}"/>
              </a:ext>
            </a:extLst>
          </p:cNvPr>
          <p:cNvSpPr txBox="1"/>
          <p:nvPr/>
        </p:nvSpPr>
        <p:spPr>
          <a:xfrm>
            <a:off x="2492590" y="2229349"/>
            <a:ext cx="3049190" cy="92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</a:t>
            </a:r>
            <a:endParaRPr lang="en-US" altLang="ja-JP" sz="24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3400"/>
              </a:lnSpc>
              <a:buNone/>
            </a:pPr>
            <a:r>
              <a:rPr lang="en-US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             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</a:t>
            </a:r>
            <a:r>
              <a:rPr lang="ja-JP" altLang="ja-JP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EBD9232-8415-6E65-5579-30BC2D90355C}"/>
              </a:ext>
            </a:extLst>
          </p:cNvPr>
          <p:cNvSpPr txBox="1"/>
          <p:nvPr/>
        </p:nvSpPr>
        <p:spPr>
          <a:xfrm>
            <a:off x="7608153" y="1261832"/>
            <a:ext cx="3629025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【問題3】 X軸対象</a:t>
            </a: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6A5221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print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ja-JP" altLang="ja-JP" sz="20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"v="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v)</a:t>
            </a:r>
          </a:p>
          <a:p>
            <a:pPr marL="36000">
              <a:lnSpc>
                <a:spcPts val="2400"/>
              </a:lnSpc>
              <a:buNone/>
            </a:pP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プロットするために変換</a:t>
            </a:r>
            <a:endParaRPr lang="ja-JP" altLang="ja-JP" sz="16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x_t = v.T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 = x_t[</a:t>
            </a:r>
            <a:r>
              <a:rPr lang="ja-JP" altLang="ja-JP" sz="16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y = x_t[</a:t>
            </a:r>
            <a:r>
              <a:rPr lang="ja-JP" altLang="ja-JP" sz="16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plt.figure(figsize=[</a:t>
            </a:r>
            <a:r>
              <a:rPr lang="ja-JP" altLang="ja-JP" sz="20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4.5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1次変換　X軸対称移動</a:t>
            </a: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 b, c, d = </a:t>
            </a:r>
            <a:r>
              <a:rPr lang="en-US" altLang="ja-JP" sz="2000" b="1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,  ,  ,  </a:t>
            </a:r>
            <a:endParaRPr lang="ja-JP" altLang="ja-JP" sz="2000" b="1">
              <a:solidFill>
                <a:srgbClr val="FF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 = np.array([[a, b],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          </a:t>
            </a:r>
            <a:r>
              <a:rPr lang="en-US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 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   [c, d]])</a:t>
            </a:r>
          </a:p>
          <a:p>
            <a:pPr marL="36000">
              <a:lnSpc>
                <a:spcPts val="2400"/>
              </a:lnSpc>
              <a:buNone/>
            </a:pP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v_new = </a:t>
            </a:r>
            <a:r>
              <a:rPr lang="en-US" altLang="ja-JP" sz="2000" b="1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</a:t>
            </a:r>
            <a:r>
              <a:rPr lang="ja-JP" altLang="ja-JP" sz="2000" b="1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* </a:t>
            </a:r>
            <a:r>
              <a:rPr lang="en-US" altLang="ja-JP" sz="2000" b="1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</a:t>
            </a:r>
            <a:endParaRPr lang="ja-JP" altLang="ja-JP" sz="2000" b="1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6A5221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print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ja-JP" altLang="ja-JP" sz="20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"v_new="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v_new)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F772EA1-8C4E-6802-BD98-6BB59A616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08838"/>
              </p:ext>
            </p:extLst>
          </p:nvPr>
        </p:nvGraphicFramePr>
        <p:xfrm>
          <a:off x="5016000" y="4501229"/>
          <a:ext cx="21600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71204509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5895317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a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1646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b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9378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c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1502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d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040941"/>
                  </a:ext>
                </a:extLst>
              </a:tr>
            </a:tbl>
          </a:graphicData>
        </a:graphic>
      </p:graphicFrame>
      <p:pic>
        <p:nvPicPr>
          <p:cNvPr id="12" name="図 11">
            <a:extLst>
              <a:ext uri="{FF2B5EF4-FFF2-40B4-BE49-F238E27FC236}">
                <a16:creationId xmlns:a16="http://schemas.microsoft.com/office/drawing/2014/main" id="{5D32424A-6FAE-A953-3C5E-40F22E483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780" y="2584743"/>
            <a:ext cx="1144705" cy="146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3FE7B-5AB3-9680-00ED-0B5660BD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0009F9-9926-EFDC-0DF1-135EDD3C235B}"/>
              </a:ext>
            </a:extLst>
          </p:cNvPr>
          <p:cNvSpPr txBox="1"/>
          <p:nvPr/>
        </p:nvSpPr>
        <p:spPr>
          <a:xfrm>
            <a:off x="2438400" y="638177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１次変換の問題</a:t>
            </a:r>
          </a:p>
        </p:txBody>
      </p:sp>
      <p:sp>
        <p:nvSpPr>
          <p:cNvPr id="2" name="スライド番号プレースホルダー 4">
            <a:extLst>
              <a:ext uri="{FF2B5EF4-FFF2-40B4-BE49-F238E27FC236}">
                <a16:creationId xmlns:a16="http://schemas.microsoft.com/office/drawing/2014/main" id="{393D7A1F-8C09-36CD-1D84-5098C535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8</a:t>
            </a:fld>
            <a:endParaRPr lang="en-US" sz="20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BB99C9B8-458C-2943-DC4E-6149EA2D3AB9}"/>
                  </a:ext>
                </a:extLst>
              </p:cNvPr>
              <p:cNvSpPr txBox="1"/>
              <p:nvPr/>
            </p:nvSpPr>
            <p:spPr>
              <a:xfrm>
                <a:off x="542441" y="1442371"/>
                <a:ext cx="5929797" cy="157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6000">
                  <a:lnSpc>
                    <a:spcPts val="3000"/>
                  </a:lnSpc>
                  <a:buNone/>
                </a:pP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【</a:t>
                </a:r>
                <a:r>
                  <a:rPr lang="ja-JP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問題</a:t>
                </a:r>
                <a:r>
                  <a:rPr lang="en-US" altLang="ja-JP" sz="24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4】</a:t>
                </a: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行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2</a:t>
                </a:r>
                <a:r>
                  <a:rPr lang="ja-JP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列 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の行列</a:t>
                </a:r>
                <a:r>
                  <a:rPr lang="en-US" altLang="ja-JP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A</a:t>
                </a:r>
                <a14:m>
                  <m:oMath xmlns:m="http://schemas.openxmlformats.org/officeDocument/2006/math">
                    <m:r>
                      <a:rPr lang="ja-JP" altLang="en-US" b="1" i="1">
                        <a:latin typeface="Cambria Math" panose="02040503050406030204" pitchFamily="18" charset="0"/>
                        <a:ea typeface="ＭＳ Ｐゴシック" panose="020B0600070205080204" pitchFamily="50" charset="-128"/>
                      </a:rPr>
                      <m:t>を</m:t>
                    </m:r>
                  </m:oMath>
                </a14:m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使ってベクトル</a:t>
                </a:r>
                <a:r>
                  <a:rPr lang="en-US" altLang="ja-JP" sz="2000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v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</a:t>
                </a:r>
                <a:r>
                  <a:rPr lang="en-US" altLang="ja-JP" b="1">
                    <a:solidFill>
                      <a:srgbClr val="FF0000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Y</a:t>
                </a:r>
                <a:r>
                  <a:rPr lang="ja-JP" altLang="en-US" b="1">
                    <a:solidFill>
                      <a:srgbClr val="FF0000"/>
                    </a:solidFill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軸</a:t>
                </a: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を対称に転写させなさい。</a:t>
                </a:r>
              </a:p>
              <a:p>
                <a:pPr marL="36000">
                  <a:lnSpc>
                    <a:spcPts val="3000"/>
                  </a:lnSpc>
                  <a:buNone/>
                </a:pPr>
                <a:r>
                  <a:rPr lang="ja-JP" altLang="en-US" b="1">
                    <a:latin typeface="ＭＳ Ｐゴシック" panose="020B0600070205080204" pitchFamily="50" charset="-128"/>
                    <a:ea typeface="ＭＳ Ｐゴシック" panose="020B0600070205080204" pitchFamily="50" charset="-128"/>
                  </a:rPr>
                  <a:t>元のベクトル：ｖ</a:t>
                </a:r>
                <a:endParaRPr lang="en-US" altLang="ja-JP" b="1">
                  <a:latin typeface="ＭＳ Ｐゴシック" panose="020B0600070205080204" pitchFamily="50" charset="-128"/>
                  <a:ea typeface="ＭＳ Ｐゴシック" panose="020B0600070205080204" pitchFamily="50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BB99C9B8-458C-2943-DC4E-6149EA2D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41" y="1442371"/>
                <a:ext cx="5929797" cy="1573957"/>
              </a:xfrm>
              <a:prstGeom prst="rect">
                <a:avLst/>
              </a:prstGeom>
              <a:blipFill>
                <a:blip r:embed="rId3"/>
                <a:stretch>
                  <a:fillRect l="-1028" t="-5039" b="-50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154CFE8-4807-C3AC-A6A2-88994F80E610}"/>
              </a:ext>
            </a:extLst>
          </p:cNvPr>
          <p:cNvGrpSpPr/>
          <p:nvPr/>
        </p:nvGrpSpPr>
        <p:grpSpPr>
          <a:xfrm>
            <a:off x="402884" y="3154089"/>
            <a:ext cx="3523243" cy="3316491"/>
            <a:chOff x="402884" y="3154089"/>
            <a:chExt cx="3523243" cy="3316491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0B4E47E8-23EC-6D4B-7324-2FE7EDB325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6518" y="3154089"/>
              <a:ext cx="3287839" cy="3316491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09F6401-84AE-C82F-9B96-0855316711A6}"/>
                </a:ext>
              </a:extLst>
            </p:cNvPr>
            <p:cNvSpPr txBox="1"/>
            <p:nvPr/>
          </p:nvSpPr>
          <p:spPr>
            <a:xfrm>
              <a:off x="2443799" y="3904848"/>
              <a:ext cx="148232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v= [[1 1] </a:t>
              </a:r>
              <a:endParaRPr lang="en-US" altLang="ja-JP" sz="2000" b="1">
                <a:solidFill>
                  <a:srgbClr val="1F1F1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  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[4 3]]</a:t>
              </a:r>
              <a:endParaRPr lang="ja-JP" altLang="en-US" sz="2000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9986480-E264-5470-94C5-DD4D0FC5B7DE}"/>
                </a:ext>
              </a:extLst>
            </p:cNvPr>
            <p:cNvSpPr txBox="1"/>
            <p:nvPr/>
          </p:nvSpPr>
          <p:spPr>
            <a:xfrm>
              <a:off x="402884" y="3841673"/>
              <a:ext cx="201545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_new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= [[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-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 1] </a:t>
              </a:r>
              <a:endParaRPr lang="en-US" altLang="ja-JP" sz="2000" b="1">
                <a:solidFill>
                  <a:srgbClr val="1F1F1F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          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[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-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4 </a:t>
              </a:r>
              <a:r>
                <a:rPr lang="en-US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</a:t>
              </a:r>
              <a:r>
                <a:rPr lang="ja-JP" altLang="ja-JP" sz="2000" b="1" i="0">
                  <a:solidFill>
                    <a:srgbClr val="1F1F1F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3]]</a:t>
              </a:r>
              <a:endParaRPr lang="ja-JP" altLang="en-US" sz="2000" b="1"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B964031-F37D-7DE6-E3B0-3D362B77BFC4}"/>
              </a:ext>
            </a:extLst>
          </p:cNvPr>
          <p:cNvSpPr txBox="1"/>
          <p:nvPr/>
        </p:nvSpPr>
        <p:spPr>
          <a:xfrm>
            <a:off x="2492590" y="2229349"/>
            <a:ext cx="3049190" cy="924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  <a:buNone/>
            </a:pP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</a:t>
            </a:r>
            <a:endParaRPr lang="en-US" altLang="ja-JP" sz="24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lnSpc>
                <a:spcPts val="3400"/>
              </a:lnSpc>
              <a:buNone/>
            </a:pPr>
            <a:r>
              <a:rPr lang="en-US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             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[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4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4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</a:t>
            </a:r>
            <a:r>
              <a:rPr lang="ja-JP" altLang="ja-JP" b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ABFF96-C266-3E87-D865-B5D4A366F1BF}"/>
              </a:ext>
            </a:extLst>
          </p:cNvPr>
          <p:cNvSpPr txBox="1"/>
          <p:nvPr/>
        </p:nvSpPr>
        <p:spPr>
          <a:xfrm>
            <a:off x="7608153" y="1261832"/>
            <a:ext cx="3629025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【問題3】 X軸対象</a:t>
            </a: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6A5221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print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ja-JP" altLang="ja-JP" sz="20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"v="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v)</a:t>
            </a:r>
          </a:p>
          <a:p>
            <a:pPr marL="36000">
              <a:lnSpc>
                <a:spcPts val="2400"/>
              </a:lnSpc>
              <a:buNone/>
            </a:pP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プロットするために変換</a:t>
            </a:r>
            <a:endParaRPr lang="ja-JP" altLang="ja-JP" sz="16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x_t = v.T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x = x_t[</a:t>
            </a:r>
            <a:r>
              <a:rPr lang="ja-JP" altLang="ja-JP" sz="16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0</a:t>
            </a: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y = x_t[</a:t>
            </a:r>
            <a:r>
              <a:rPr lang="ja-JP" altLang="ja-JP" sz="16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16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plt.figure(figsize=[</a:t>
            </a:r>
            <a:r>
              <a:rPr lang="ja-JP" altLang="ja-JP" sz="20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0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4.5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8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 1次変換　X軸対称移動</a:t>
            </a: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FF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a, b, c, d = </a:t>
            </a:r>
            <a:r>
              <a:rPr lang="en-US" altLang="ja-JP" sz="2000" b="1">
                <a:solidFill>
                  <a:srgbClr val="FF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,  ,  ,  </a:t>
            </a:r>
            <a:endParaRPr lang="ja-JP" altLang="ja-JP" sz="2000" b="1">
              <a:solidFill>
                <a:srgbClr val="FF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 = np.array([[a, b],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          </a:t>
            </a:r>
            <a:r>
              <a:rPr lang="en-US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 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   [c, d]])</a:t>
            </a:r>
          </a:p>
          <a:p>
            <a:pPr marL="36000">
              <a:lnSpc>
                <a:spcPts val="2400"/>
              </a:lnSpc>
              <a:buNone/>
            </a:pPr>
            <a:endParaRPr lang="ja-JP" altLang="ja-JP" sz="2000" b="0">
              <a:solidFill>
                <a:srgbClr val="000000"/>
              </a:solidFill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 = np.array([[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v_new = v * A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0">
                <a:solidFill>
                  <a:srgbClr val="6A5221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print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(</a:t>
            </a:r>
            <a:r>
              <a:rPr lang="ja-JP" altLang="ja-JP" sz="2000" b="0">
                <a:solidFill>
                  <a:srgbClr val="A31515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"v_new="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v_new)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FBC28D92-38E7-4D08-0222-654D73924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49591"/>
              </p:ext>
            </p:extLst>
          </p:nvPr>
        </p:nvGraphicFramePr>
        <p:xfrm>
          <a:off x="4745520" y="4469391"/>
          <a:ext cx="21600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71204509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25895317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a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16465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b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9378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c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15024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</a:rPr>
                        <a:t>d =</a:t>
                      </a:r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040941"/>
                  </a:ext>
                </a:extLst>
              </a:tr>
            </a:tbl>
          </a:graphicData>
        </a:graphic>
      </p:graphicFrame>
      <p:pic>
        <p:nvPicPr>
          <p:cNvPr id="15" name="図 14">
            <a:extLst>
              <a:ext uri="{FF2B5EF4-FFF2-40B4-BE49-F238E27FC236}">
                <a16:creationId xmlns:a16="http://schemas.microsoft.com/office/drawing/2014/main" id="{8D9A6083-8A63-3C44-6ED0-A0B2473B7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781" y="2721641"/>
            <a:ext cx="1108442" cy="14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DA40D2-E360-0B64-5B9F-DFC57D822482}"/>
              </a:ext>
            </a:extLst>
          </p:cNvPr>
          <p:cNvSpPr txBox="1"/>
          <p:nvPr/>
        </p:nvSpPr>
        <p:spPr>
          <a:xfrm>
            <a:off x="2438400" y="638177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１次変換の問題</a:t>
            </a:r>
          </a:p>
        </p:txBody>
      </p:sp>
      <p:sp>
        <p:nvSpPr>
          <p:cNvPr id="3" name="スライド番号プレースホルダー 4">
            <a:extLst>
              <a:ext uri="{FF2B5EF4-FFF2-40B4-BE49-F238E27FC236}">
                <a16:creationId xmlns:a16="http://schemas.microsoft.com/office/drawing/2014/main" id="{89751502-F83F-483E-A2CB-073BC19F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9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EBE713-36AA-9E35-A491-08DDE0D07242}"/>
              </a:ext>
            </a:extLst>
          </p:cNvPr>
          <p:cNvSpPr txBox="1"/>
          <p:nvPr/>
        </p:nvSpPr>
        <p:spPr>
          <a:xfrm>
            <a:off x="542441" y="1442371"/>
            <a:ext cx="5929797" cy="15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>
              <a:lnSpc>
                <a:spcPts val="3000"/>
              </a:lnSpc>
              <a:buNone/>
            </a:pPr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【</a:t>
            </a:r>
            <a:r>
              <a:rPr lang="ja-JP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問題</a:t>
            </a:r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5】</a:t>
            </a:r>
          </a:p>
          <a:p>
            <a:pPr marL="36000">
              <a:lnSpc>
                <a:spcPts val="3000"/>
              </a:lnSpc>
              <a:buNone/>
            </a:pPr>
            <a:r>
              <a:rPr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ベクトルの回転</a:t>
            </a:r>
          </a:p>
          <a:p>
            <a:pPr marL="36000">
              <a:lnSpc>
                <a:spcPts val="3000"/>
              </a:lnSpc>
              <a:buNone/>
            </a:pPr>
            <a:r>
              <a:rPr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元のベクトル：ｖ</a:t>
            </a:r>
            <a:endParaRPr lang="en-US" altLang="ja-JP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36000">
              <a:lnSpc>
                <a:spcPts val="3000"/>
              </a:lnSpc>
              <a:buNone/>
            </a:pPr>
            <a:r>
              <a:rPr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ベクトルｖを反時計まわりに</a:t>
            </a:r>
            <a:r>
              <a:rPr lang="en-US" altLang="ja-JP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45°</a:t>
            </a:r>
            <a:r>
              <a:rPr lang="ja-JP" altLang="en-US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回転させなさい</a:t>
            </a:r>
            <a:endParaRPr lang="en-US" altLang="ja-JP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E2BDB9-2CDD-7329-2950-2ED1B5195AD0}"/>
              </a:ext>
            </a:extLst>
          </p:cNvPr>
          <p:cNvSpPr txBox="1"/>
          <p:nvPr/>
        </p:nvSpPr>
        <p:spPr>
          <a:xfrm>
            <a:off x="2727723" y="1923721"/>
            <a:ext cx="27586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>
              <a:lnSpc>
                <a:spcPts val="2400"/>
              </a:lnSpc>
              <a:buNone/>
            </a:pPr>
            <a:r>
              <a:rPr lang="en-US" altLang="ja-JP" sz="2000" b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= np.array([[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],</a:t>
            </a:r>
          </a:p>
          <a:p>
            <a:pPr marL="36000"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             </a:t>
            </a:r>
            <a:r>
              <a:rPr lang="en-US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[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, </a:t>
            </a:r>
            <a:r>
              <a:rPr lang="ja-JP" altLang="ja-JP" sz="2000" b="1">
                <a:solidFill>
                  <a:srgbClr val="116644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]])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F1B6A8CE-F09E-F429-7D01-746203177731}"/>
              </a:ext>
            </a:extLst>
          </p:cNvPr>
          <p:cNvGrpSpPr/>
          <p:nvPr/>
        </p:nvGrpSpPr>
        <p:grpSpPr>
          <a:xfrm>
            <a:off x="542441" y="3112957"/>
            <a:ext cx="3309830" cy="3488331"/>
            <a:chOff x="1405046" y="3245115"/>
            <a:chExt cx="3309830" cy="3488331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22117E5-C24C-937A-F515-EE2D5B643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5046" y="3394772"/>
              <a:ext cx="3309830" cy="3338674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3084B82-DE64-6AAB-82B9-60926803A076}"/>
                </a:ext>
              </a:extLst>
            </p:cNvPr>
            <p:cNvSpPr txBox="1"/>
            <p:nvPr/>
          </p:nvSpPr>
          <p:spPr>
            <a:xfrm>
              <a:off x="3195692" y="4090658"/>
              <a:ext cx="151918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0">
                <a:lnSpc>
                  <a:spcPts val="2400"/>
                </a:lnSpc>
                <a:buNone/>
              </a:pPr>
              <a:r>
                <a:rPr lang="en-US" altLang="ja-JP" sz="2000" b="1">
                  <a:solidFill>
                    <a:srgbClr val="000000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v</a:t>
              </a: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 = ([[</a:t>
              </a:r>
              <a:r>
                <a:rPr lang="ja-JP" altLang="ja-JP" sz="2000" b="1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, </a:t>
              </a:r>
              <a:r>
                <a:rPr lang="ja-JP" altLang="ja-JP" sz="2000" b="1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1</a:t>
              </a: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],</a:t>
              </a:r>
            </a:p>
            <a:p>
              <a:pPr marL="36000">
                <a:lnSpc>
                  <a:spcPts val="2400"/>
                </a:lnSpc>
                <a:buNone/>
              </a:pP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      [</a:t>
              </a:r>
              <a:r>
                <a:rPr lang="ja-JP" altLang="ja-JP" sz="2000" b="1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4</a:t>
              </a: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, </a:t>
              </a:r>
              <a:r>
                <a:rPr lang="ja-JP" altLang="ja-JP" sz="2000" b="1">
                  <a:solidFill>
                    <a:srgbClr val="116644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3</a:t>
              </a:r>
              <a:r>
                <a:rPr lang="ja-JP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]])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89C16E4-D330-198E-A521-EDBD02792CE9}"/>
                </a:ext>
              </a:extLst>
            </p:cNvPr>
            <p:cNvSpPr txBox="1"/>
            <p:nvPr/>
          </p:nvSpPr>
          <p:spPr>
            <a:xfrm>
              <a:off x="1709872" y="3245115"/>
              <a:ext cx="224541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0">
                <a:lnSpc>
                  <a:spcPts val="2400"/>
                </a:lnSpc>
                <a:buNone/>
              </a:pPr>
              <a:r>
                <a:rPr lang="en-US" altLang="ja-JP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45°</a:t>
              </a:r>
              <a:r>
                <a:rPr lang="ja-JP" altLang="en-US" sz="2000" b="1">
                  <a:solidFill>
                    <a:srgbClr val="000000"/>
                  </a:solidFill>
                  <a:effectLst/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反時計方向</a:t>
              </a:r>
              <a:endParaRPr lang="en-US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  <a:p>
              <a:pPr marL="36000">
                <a:lnSpc>
                  <a:spcPts val="2400"/>
                </a:lnSpc>
                <a:buNone/>
              </a:pPr>
              <a:r>
                <a:rPr lang="ja-JP" altLang="en-US" sz="2000" b="1">
                  <a:solidFill>
                    <a:srgbClr val="000000"/>
                  </a:solidFill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に回転</a:t>
              </a:r>
              <a:endPara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endParaRPr>
            </a:p>
          </p:txBody>
        </p:sp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AFD1AE8B-6F02-DDFF-C9F2-D444608AA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90" y="1618682"/>
            <a:ext cx="2732185" cy="102680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D399DD6-13C2-4890-2C10-FFE98DA43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421" y="2988013"/>
            <a:ext cx="4084619" cy="264886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196A21C-2CF2-0CE8-D772-EB305A141030}"/>
              </a:ext>
            </a:extLst>
          </p:cNvPr>
          <p:cNvSpPr txBox="1"/>
          <p:nvPr/>
        </p:nvSpPr>
        <p:spPr>
          <a:xfrm>
            <a:off x="4482712" y="3991071"/>
            <a:ext cx="2070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np</a:t>
            </a:r>
            <a:r>
              <a:rPr lang="ja-JP" altLang="ja-JP" sz="24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cos(theta</a:t>
            </a:r>
            <a:r>
              <a:rPr lang="ja-JP" altLang="ja-JP" sz="2000" b="0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)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D3A603-D70C-D545-C6EE-62518BF285A1}"/>
              </a:ext>
            </a:extLst>
          </p:cNvPr>
          <p:cNvSpPr txBox="1"/>
          <p:nvPr/>
        </p:nvSpPr>
        <p:spPr>
          <a:xfrm>
            <a:off x="4561231" y="4603867"/>
            <a:ext cx="1744359" cy="259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np</a:t>
            </a:r>
            <a:r>
              <a:rPr lang="ja-JP" altLang="ja-JP" sz="24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  <a:r>
              <a:rPr lang="ja-JP" altLang="ja-JP" sz="2000" b="1">
                <a:solidFill>
                  <a:srgbClr val="000000"/>
                </a:solidFill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sin(theta)</a:t>
            </a:r>
          </a:p>
        </p:txBody>
      </p:sp>
    </p:spTree>
    <p:extLst>
      <p:ext uri="{BB962C8B-B14F-4D97-AF65-F5344CB8AC3E}">
        <p14:creationId xmlns:p14="http://schemas.microsoft.com/office/powerpoint/2010/main" val="122346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7944-810F-F1FC-17D2-E1D16947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311012-8C51-2226-9597-2AACCD62836A}"/>
              </a:ext>
            </a:extLst>
          </p:cNvPr>
          <p:cNvSpPr txBox="1"/>
          <p:nvPr/>
        </p:nvSpPr>
        <p:spPr>
          <a:xfrm>
            <a:off x="2164062" y="547678"/>
            <a:ext cx="7029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b="1"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画像の回転</a:t>
            </a:r>
          </a:p>
        </p:txBody>
      </p:sp>
      <p:sp>
        <p:nvSpPr>
          <p:cNvPr id="3" name="スライド番号プレースホルダー 4">
            <a:extLst>
              <a:ext uri="{FF2B5EF4-FFF2-40B4-BE49-F238E27FC236}">
                <a16:creationId xmlns:a16="http://schemas.microsoft.com/office/drawing/2014/main" id="{5E082E19-10B6-32A6-F847-6F9AC0F7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3420" y="6136766"/>
            <a:ext cx="636727" cy="322851"/>
          </a:xfrm>
        </p:spPr>
        <p:txBody>
          <a:bodyPr/>
          <a:lstStyle/>
          <a:p>
            <a:fld id="{6D22F896-40B5-4ADD-8801-0D06FADFA095}" type="slidenum">
              <a:rPr lang="en-US" sz="2000" b="1" smtClean="0">
                <a:solidFill>
                  <a:schemeClr val="tx1"/>
                </a:solidFill>
              </a:rPr>
              <a:t>10</a:t>
            </a:fld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989780-743F-3B12-A6DB-BB14BD72FFD5}"/>
              </a:ext>
            </a:extLst>
          </p:cNvPr>
          <p:cNvSpPr txBox="1"/>
          <p:nvPr/>
        </p:nvSpPr>
        <p:spPr>
          <a:xfrm>
            <a:off x="1932385" y="1287820"/>
            <a:ext cx="60936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b="1"/>
              <a:t>0は、光が全くない状態 ＝【真っ黒】</a:t>
            </a:r>
            <a:endParaRPr lang="ja-JP" altLang="ja-JP"/>
          </a:p>
          <a:p>
            <a:pPr>
              <a:buNone/>
            </a:pPr>
            <a:r>
              <a:rPr lang="ja-JP" altLang="ja-JP" b="1"/>
              <a:t>「255」は、光がマックスの状態 ＝【真っ白】</a:t>
            </a:r>
            <a:endParaRPr lang="en-US" altLang="ja-JP" b="1"/>
          </a:p>
          <a:p>
            <a:pPr>
              <a:buNone/>
            </a:pPr>
            <a:endParaRPr lang="ja-JP" altLang="ja-JP"/>
          </a:p>
          <a:p>
            <a:pPr>
              <a:buNone/>
            </a:pPr>
            <a:r>
              <a:rPr lang="ja-JP" altLang="ja-JP"/>
              <a:t>その間の数字（1〜254）は、だんだんと明るくなっていく【グレー（灰色）のグラデーション】を表しています。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913D583-E2B1-05ED-0549-878FEAD5C29C}"/>
              </a:ext>
            </a:extLst>
          </p:cNvPr>
          <p:cNvSpPr txBox="1"/>
          <p:nvPr/>
        </p:nvSpPr>
        <p:spPr>
          <a:xfrm>
            <a:off x="1063923" y="3647255"/>
            <a:ext cx="9686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>
                <a:latin typeface="ＭＳ Ｐゴシック" panose="020B0600070205080204" pitchFamily="50" charset="-128"/>
                <a:ea typeface="ＭＳ Ｐゴシック" panose="020B0600070205080204" pitchFamily="50" charset="-128"/>
                <a:hlinkClick r:id="rId2"/>
              </a:rPr>
              <a:t>Human_AI_mathematics/Image_transport.ipynb at main · Taka-Lab-Python/Human_AI_mathematics</a:t>
            </a:r>
            <a:endParaRPr lang="ja-JP" altLang="en-US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559A6B-A515-DAAD-C80E-8BD21C865168}"/>
              </a:ext>
            </a:extLst>
          </p:cNvPr>
          <p:cNvSpPr txBox="1"/>
          <p:nvPr/>
        </p:nvSpPr>
        <p:spPr>
          <a:xfrm>
            <a:off x="1063923" y="3181284"/>
            <a:ext cx="4386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GitHub</a:t>
            </a:r>
            <a:endParaRPr lang="ja-JP" altLang="en-US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C3933AE-DF51-6C7E-CCAB-2B6D3D2EA2E0}"/>
              </a:ext>
            </a:extLst>
          </p:cNvPr>
          <p:cNvGrpSpPr/>
          <p:nvPr/>
        </p:nvGrpSpPr>
        <p:grpSpPr>
          <a:xfrm>
            <a:off x="7288783" y="4852926"/>
            <a:ext cx="3383980" cy="1099959"/>
            <a:chOff x="7288783" y="4852926"/>
            <a:chExt cx="3383980" cy="109995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2734FE76-1CB1-289A-282A-0D18D8E5B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8783" y="4852926"/>
              <a:ext cx="1804718" cy="836625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A91D2E2-C1F9-E8EC-14D2-A86C569E1949}"/>
                </a:ext>
              </a:extLst>
            </p:cNvPr>
            <p:cNvSpPr txBox="1"/>
            <p:nvPr/>
          </p:nvSpPr>
          <p:spPr>
            <a:xfrm>
              <a:off x="8372473" y="5491220"/>
              <a:ext cx="230029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2400" b="1">
                  <a:latin typeface="ＭＳ Ｐゴシック" panose="020B0600070205080204" pitchFamily="50" charset="-128"/>
                  <a:ea typeface="ＭＳ Ｐゴシック" panose="020B0600070205080204" pitchFamily="50" charset="-128"/>
                </a:rPr>
                <a:t>ダウンロード</a:t>
              </a:r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FFD996B-A034-E0A0-AE4D-CA8047EF580C}"/>
              </a:ext>
            </a:extLst>
          </p:cNvPr>
          <p:cNvSpPr txBox="1"/>
          <p:nvPr/>
        </p:nvSpPr>
        <p:spPr>
          <a:xfrm>
            <a:off x="1932385" y="5089831"/>
            <a:ext cx="23002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マウス右クリック</a:t>
            </a:r>
            <a:endParaRPr lang="en-US" altLang="ja-JP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リンクを開く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3E6D4E5-83FE-E758-F9A1-23B9EDED0133}"/>
              </a:ext>
            </a:extLst>
          </p:cNvPr>
          <p:cNvSpPr txBox="1"/>
          <p:nvPr/>
        </p:nvSpPr>
        <p:spPr>
          <a:xfrm>
            <a:off x="1063923" y="4291093"/>
            <a:ext cx="854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>
                <a:hlinkClick r:id="rId4"/>
              </a:rPr>
              <a:t>Human_AI_mathematics/s_2.jpg at main · Taka-Lab-Python/Human_AI_mathematics</a:t>
            </a:r>
            <a:endParaRPr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6F342BA-FFF2-42DA-598C-F188DDFA27CE}"/>
              </a:ext>
            </a:extLst>
          </p:cNvPr>
          <p:cNvSpPr txBox="1"/>
          <p:nvPr/>
        </p:nvSpPr>
        <p:spPr>
          <a:xfrm>
            <a:off x="9193512" y="4244926"/>
            <a:ext cx="1657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画像</a:t>
            </a:r>
            <a:endParaRPr lang="en-US" altLang="ja-JP" sz="2400" b="1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46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B81411FE-0CEE-1388-B817-5DF248E808FA}"/>
              </a:ext>
            </a:extLst>
          </p:cNvPr>
          <p:cNvGrpSpPr/>
          <p:nvPr/>
        </p:nvGrpSpPr>
        <p:grpSpPr>
          <a:xfrm>
            <a:off x="2426868" y="1990530"/>
            <a:ext cx="7104902" cy="4105664"/>
            <a:chOff x="2426868" y="1990530"/>
            <a:chExt cx="7104902" cy="4105664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D21CB95A-1EB8-4B05-35CA-444388284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6868" y="1990530"/>
              <a:ext cx="7104902" cy="4105664"/>
            </a:xfrm>
            <a:prstGeom prst="rect">
              <a:avLst/>
            </a:prstGeom>
          </p:spPr>
        </p:pic>
        <p:sp>
          <p:nvSpPr>
            <p:cNvPr id="3" name="矢印: 右 2">
              <a:extLst>
                <a:ext uri="{FF2B5EF4-FFF2-40B4-BE49-F238E27FC236}">
                  <a16:creationId xmlns:a16="http://schemas.microsoft.com/office/drawing/2014/main" id="{0E60D104-5FE2-03C7-3E12-4B9A24BD6489}"/>
                </a:ext>
              </a:extLst>
            </p:cNvPr>
            <p:cNvSpPr/>
            <p:nvPr/>
          </p:nvSpPr>
          <p:spPr>
            <a:xfrm>
              <a:off x="5715000" y="3600450"/>
              <a:ext cx="381000" cy="8286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638374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7248179_TF33568355" id="{AFEEBDA8-255A-4958-A610-A2BEDD05A8D3}" vid="{257B8A2A-890E-4E59-9478-8D07761AD9C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技術の配当デザイン</Template>
  <TotalTime>742</TotalTime>
  <Words>1243</Words>
  <Application>Microsoft Office PowerPoint</Application>
  <PresentationFormat>ワイド画面</PresentationFormat>
  <Paragraphs>180</Paragraphs>
  <Slides>11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Meiryo UI</vt:lpstr>
      <vt:lpstr>ＭＳ Ｐゴシック</vt:lpstr>
      <vt:lpstr>Noto Sans JP Black</vt:lpstr>
      <vt:lpstr>Cambria Math</vt:lpstr>
      <vt:lpstr>Courier New</vt:lpstr>
      <vt:lpstr>Wingdings 2</vt:lpstr>
      <vt:lpstr>配当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Takashi Yanagisawa</dc:creator>
  <cp:lastModifiedBy>Takashi Yanagisawa</cp:lastModifiedBy>
  <cp:revision>235</cp:revision>
  <dcterms:created xsi:type="dcterms:W3CDTF">2026-06-08T09:19:34Z</dcterms:created>
  <dcterms:modified xsi:type="dcterms:W3CDTF">2026-06-17T01:02:07Z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